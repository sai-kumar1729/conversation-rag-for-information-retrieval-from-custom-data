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4"/>
  </p:sldMasterIdLst>
  <p:notesMasterIdLst>
    <p:notesMasterId r:id="rId12"/>
  </p:notesMasterIdLst>
  <p:sldIdLst>
    <p:sldId id="271" r:id="rId5"/>
    <p:sldId id="380" r:id="rId6"/>
    <p:sldId id="381" r:id="rId7"/>
    <p:sldId id="386" r:id="rId8"/>
    <p:sldId id="384" r:id="rId9"/>
    <p:sldId id="385" r:id="rId10"/>
    <p:sldId id="266" r:id="rId1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FF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1459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68DC72-0701-4922-B9D1-CBFB540736DA}" type="datetimeFigureOut">
              <a:rPr lang="en-IN" smtClean="0"/>
              <a:t>31-08-2025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433DB3-0243-45D5-87FD-27D2F51D2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364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52529" cy="736270"/>
          </a:xfrm>
          <a:prstGeom prst="rect">
            <a:avLst/>
          </a:prstGeom>
          <a:gradFill>
            <a:gsLst>
              <a:gs pos="1000">
                <a:srgbClr val="166018"/>
              </a:gs>
              <a:gs pos="52000">
                <a:srgbClr val="00B0F0"/>
              </a:gs>
              <a:gs pos="100000">
                <a:schemeClr val="tx2">
                  <a:lumMod val="75000"/>
                </a:schemeClr>
              </a:gs>
              <a:gs pos="100000">
                <a:srgbClr val="4D0808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  <a:latin typeface="Franklin Gothic Demi" pitchFamily="34" charset="0"/>
              </a:rPr>
              <a:t>INDIAN INSTITUTE OF TECHNOLOGY ROORKEE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7895" y="-1281"/>
            <a:ext cx="755828" cy="732103"/>
          </a:xfrm>
          <a:prstGeom prst="rect">
            <a:avLst/>
          </a:prstGeom>
        </p:spPr>
      </p:pic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006150"/>
            <a:ext cx="9133727" cy="185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77814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64285" y="-1480"/>
            <a:ext cx="979715" cy="961360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0" y="990600"/>
            <a:ext cx="9144000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6756400"/>
            <a:ext cx="9144000" cy="0"/>
          </a:xfrm>
          <a:prstGeom prst="line">
            <a:avLst/>
          </a:prstGeom>
          <a:ln w="2222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197" y="6447291"/>
            <a:ext cx="16668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>
            <a:lum bright="3000"/>
          </a:blip>
          <a:stretch>
            <a:fillRect/>
          </a:stretch>
        </p:blipFill>
        <p:spPr>
          <a:xfrm>
            <a:off x="1873072" y="2118212"/>
            <a:ext cx="5321656" cy="3510576"/>
          </a:xfrm>
          <a:prstGeom prst="rect">
            <a:avLst/>
          </a:prstGeom>
        </p:spPr>
      </p:pic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8382001" y="6607628"/>
            <a:ext cx="762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mtClean="0"/>
              <a:pPr algn="r"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80654" y="202990"/>
            <a:ext cx="7042080" cy="554587"/>
          </a:xfrm>
        </p:spPr>
        <p:txBody>
          <a:bodyPr/>
          <a:lstStyle>
            <a:lvl1pPr algn="l">
              <a:defRPr sz="3200" b="1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2"/>
          </p:nvPr>
        </p:nvSpPr>
        <p:spPr>
          <a:xfrm>
            <a:off x="180653" y="1173984"/>
            <a:ext cx="8768137" cy="5223272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8656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lum bright="3000"/>
          </a:blip>
          <a:stretch>
            <a:fillRect/>
          </a:stretch>
        </p:blipFill>
        <p:spPr>
          <a:xfrm>
            <a:off x="1873072" y="2118212"/>
            <a:ext cx="5321656" cy="35105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654" y="202990"/>
            <a:ext cx="7042080" cy="554587"/>
          </a:xfrm>
        </p:spPr>
        <p:txBody>
          <a:bodyPr/>
          <a:lstStyle>
            <a:lvl1pPr algn="l">
              <a:defRPr sz="3200" b="1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0654" y="1132413"/>
            <a:ext cx="4288604" cy="48063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0654" y="1613043"/>
            <a:ext cx="4288604" cy="47842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25166"/>
            <a:ext cx="4242121" cy="4878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13043"/>
            <a:ext cx="4242121" cy="47842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64285" y="-1480"/>
            <a:ext cx="979715" cy="961360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>
            <a:off x="0" y="990600"/>
            <a:ext cx="9144000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0" y="6756400"/>
            <a:ext cx="9144000" cy="0"/>
          </a:xfrm>
          <a:prstGeom prst="line">
            <a:avLst/>
          </a:prstGeom>
          <a:ln w="2222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197" y="6447291"/>
            <a:ext cx="16668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8382001" y="6607628"/>
            <a:ext cx="762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mtClean="0"/>
              <a:pPr algn="r"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18922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lum bright="3000"/>
          </a:blip>
          <a:stretch>
            <a:fillRect/>
          </a:stretch>
        </p:blipFill>
        <p:spPr>
          <a:xfrm>
            <a:off x="1873072" y="2118212"/>
            <a:ext cx="5321656" cy="351057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64285" y="-1480"/>
            <a:ext cx="979715" cy="961360"/>
          </a:xfrm>
          <a:prstGeom prst="rect">
            <a:avLst/>
          </a:prstGeom>
        </p:spPr>
      </p:pic>
      <p:cxnSp>
        <p:nvCxnSpPr>
          <p:cNvPr id="7" name="Straight Connector 6"/>
          <p:cNvCxnSpPr/>
          <p:nvPr userDrawn="1"/>
        </p:nvCxnSpPr>
        <p:spPr>
          <a:xfrm>
            <a:off x="0" y="990600"/>
            <a:ext cx="9144000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6756400"/>
            <a:ext cx="9144000" cy="0"/>
          </a:xfrm>
          <a:prstGeom prst="line">
            <a:avLst/>
          </a:prstGeom>
          <a:ln w="2222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197" y="6447291"/>
            <a:ext cx="16668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8382001" y="6607628"/>
            <a:ext cx="762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mtClean="0"/>
              <a:pPr algn="r"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7751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8382001" y="6607628"/>
            <a:ext cx="762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mtClean="0"/>
              <a:pPr algn="r"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3363913" y="2971801"/>
            <a:ext cx="2452687" cy="711200"/>
          </a:xfrm>
        </p:spPr>
        <p:txBody>
          <a:bodyPr anchor="t"/>
          <a:lstStyle>
            <a:lvl1pPr algn="ctr">
              <a:defRPr sz="3600" b="1" cap="none"/>
            </a:lvl1pPr>
          </a:lstStyle>
          <a:p>
            <a:r>
              <a:rPr lang="en-US" dirty="0"/>
              <a:t>Thanks…</a:t>
            </a:r>
            <a:endParaRPr lang="en-IN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3595524" y="3619535"/>
            <a:ext cx="2009553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9076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fld id="{247F8E96-40AA-459E-91AA-55A5F97CAAA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8/31/2025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0" hangingPunct="0">
              <a:defRPr sz="12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fld id="{D4CB9294-F9FF-4346-BE48-1C04129C722B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162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701" r:id="rId3"/>
    <p:sldLayoutId id="2147483703" r:id="rId4"/>
    <p:sldLayoutId id="2147483708" r:id="rId5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8D86AC-F8E4-6F0E-A5CB-FAC005A66547}"/>
              </a:ext>
            </a:extLst>
          </p:cNvPr>
          <p:cNvSpPr txBox="1"/>
          <p:nvPr/>
        </p:nvSpPr>
        <p:spPr>
          <a:xfrm>
            <a:off x="-599379" y="3247095"/>
            <a:ext cx="45764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K. Sai Kumar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 M Tech Student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6FEDB7-014F-E848-1091-0B4B39FBB3E3}"/>
              </a:ext>
            </a:extLst>
          </p:cNvPr>
          <p:cNvSpPr txBox="1"/>
          <p:nvPr/>
        </p:nvSpPr>
        <p:spPr>
          <a:xfrm>
            <a:off x="4896354" y="3284554"/>
            <a:ext cx="45764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Under the guidance of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Prof.  Sudip Roy</a:t>
            </a:r>
          </a:p>
        </p:txBody>
      </p:sp>
      <p:pic>
        <p:nvPicPr>
          <p:cNvPr id="6" name="Picture 2" descr="https://lh3.googleusercontent.com/BL0Dzw5h8SHC7hv0tBjGmx659RaW1bSaWc3AnMsS0hgx8AqJGKxXDz7r0E3jZg5-PNjsj6VKnIBdkV5t__qCoL5bEy2PlMipqXRD6QI4j2RBjo-Ey_Ime0RENCFJyc4fJufwzTAacX2VBGWtjA">
            <a:extLst>
              <a:ext uri="{FF2B5EF4-FFF2-40B4-BE49-F238E27FC236}">
                <a16:creationId xmlns:a16="http://schemas.microsoft.com/office/drawing/2014/main" id="{E0D32B48-DB50-E89E-F618-6D4CDBF073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107" y="3246045"/>
            <a:ext cx="1328618" cy="1213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1CBB324-BF57-02D9-7C9D-8B2C37B223F7}"/>
              </a:ext>
            </a:extLst>
          </p:cNvPr>
          <p:cNvSpPr txBox="1"/>
          <p:nvPr/>
        </p:nvSpPr>
        <p:spPr>
          <a:xfrm>
            <a:off x="1837679" y="4533091"/>
            <a:ext cx="6072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Centre of Excellence in Disaster Mitigation and Management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51DD26-9613-367A-420B-1E7A34DD73B3}"/>
              </a:ext>
            </a:extLst>
          </p:cNvPr>
          <p:cNvSpPr txBox="1">
            <a:spLocks/>
          </p:cNvSpPr>
          <p:nvPr/>
        </p:nvSpPr>
        <p:spPr>
          <a:xfrm>
            <a:off x="0" y="1220586"/>
            <a:ext cx="9144000" cy="2387600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IN" sz="2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conversational RAG application for Information Retrieval(IR) from custom data (Disaster Specific)</a:t>
            </a:r>
          </a:p>
        </p:txBody>
      </p:sp>
    </p:spTree>
    <p:extLst>
      <p:ext uri="{BB962C8B-B14F-4D97-AF65-F5344CB8AC3E}">
        <p14:creationId xmlns:p14="http://schemas.microsoft.com/office/powerpoint/2010/main" val="382935138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D46F6-EE25-841E-3C22-FA12E8836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0" y="1071347"/>
            <a:ext cx="9041363" cy="522327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cut off.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to entire web including unauthorized sources and websites.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LLMs try to guess and hallucinate (the major problem in LLMs).</a:t>
            </a:r>
          </a:p>
          <a:p>
            <a:pPr>
              <a:buFont typeface="Wingdings" panose="05000000000000000000" pitchFamily="2" charset="2"/>
              <a:buChar char="v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8D0CCA6-C5F4-1876-4529-4201940B6CAC}"/>
              </a:ext>
            </a:extLst>
          </p:cNvPr>
          <p:cNvSpPr txBox="1">
            <a:spLocks/>
          </p:cNvSpPr>
          <p:nvPr/>
        </p:nvSpPr>
        <p:spPr bwMode="auto">
          <a:xfrm>
            <a:off x="0" y="579730"/>
            <a:ext cx="3261852" cy="352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</a:t>
            </a:r>
          </a:p>
        </p:txBody>
      </p:sp>
    </p:spTree>
    <p:extLst>
      <p:ext uri="{BB962C8B-B14F-4D97-AF65-F5344CB8AC3E}">
        <p14:creationId xmlns:p14="http://schemas.microsoft.com/office/powerpoint/2010/main" val="4270704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251FD3F-9AB9-DEA6-A246-C79C72FD78F0}"/>
              </a:ext>
            </a:extLst>
          </p:cNvPr>
          <p:cNvSpPr txBox="1">
            <a:spLocks/>
          </p:cNvSpPr>
          <p:nvPr/>
        </p:nvSpPr>
        <p:spPr bwMode="auto">
          <a:xfrm>
            <a:off x="399662" y="290481"/>
            <a:ext cx="1855839" cy="372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GAP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70250F-4E83-A6DD-61E1-5CE59EA7B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237" y="900151"/>
            <a:ext cx="6294151" cy="44915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694EEB-4B36-272A-B53C-3B7B5C1AE2DF}"/>
              </a:ext>
            </a:extLst>
          </p:cNvPr>
          <p:cNvSpPr txBox="1"/>
          <p:nvPr/>
        </p:nvSpPr>
        <p:spPr>
          <a:xfrm>
            <a:off x="1922106" y="5374433"/>
            <a:ext cx="3377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from LLM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7C48E3-DE11-74F4-1571-74C5171A41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17" r="5588"/>
          <a:stretch>
            <a:fillRect/>
          </a:stretch>
        </p:blipFill>
        <p:spPr>
          <a:xfrm>
            <a:off x="3081911" y="583315"/>
            <a:ext cx="5950121" cy="52849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62C23E5-A6A8-48DD-5939-75187CC69E32}"/>
              </a:ext>
            </a:extLst>
          </p:cNvPr>
          <p:cNvSpPr txBox="1"/>
          <p:nvPr/>
        </p:nvSpPr>
        <p:spPr>
          <a:xfrm>
            <a:off x="3881535" y="5943600"/>
            <a:ext cx="4301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disaster assessment report by NDMA</a:t>
            </a:r>
          </a:p>
        </p:txBody>
      </p:sp>
    </p:spTree>
    <p:extLst>
      <p:ext uri="{BB962C8B-B14F-4D97-AF65-F5344CB8AC3E}">
        <p14:creationId xmlns:p14="http://schemas.microsoft.com/office/powerpoint/2010/main" val="1639047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AF81DDC-D3F2-0373-F612-1EE106AF9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28" y="1126795"/>
            <a:ext cx="7904262" cy="41916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1E9DD2-9502-6285-2351-AD6A71E00F9A}"/>
              </a:ext>
            </a:extLst>
          </p:cNvPr>
          <p:cNvSpPr txBox="1"/>
          <p:nvPr/>
        </p:nvSpPr>
        <p:spPr>
          <a:xfrm>
            <a:off x="2780522" y="5477069"/>
            <a:ext cx="3377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from LLM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C8ACBF-E71F-9481-99B2-95CA78700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036" y="2098461"/>
            <a:ext cx="8110273" cy="37331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09EC0A-0B54-9913-4D16-BBC4092F1894}"/>
              </a:ext>
            </a:extLst>
          </p:cNvPr>
          <p:cNvSpPr txBox="1"/>
          <p:nvPr/>
        </p:nvSpPr>
        <p:spPr>
          <a:xfrm>
            <a:off x="4544008" y="6027575"/>
            <a:ext cx="4301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disaster assessment report by NDMA</a:t>
            </a:r>
          </a:p>
        </p:txBody>
      </p:sp>
    </p:spTree>
    <p:extLst>
      <p:ext uri="{BB962C8B-B14F-4D97-AF65-F5344CB8AC3E}">
        <p14:creationId xmlns:p14="http://schemas.microsoft.com/office/powerpoint/2010/main" val="4001276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3EA36A5-58B6-0F56-8E4A-57856C2E5AE6}"/>
              </a:ext>
            </a:extLst>
          </p:cNvPr>
          <p:cNvSpPr txBox="1">
            <a:spLocks/>
          </p:cNvSpPr>
          <p:nvPr/>
        </p:nvSpPr>
        <p:spPr bwMode="auto">
          <a:xfrm>
            <a:off x="306354" y="271820"/>
            <a:ext cx="7125929" cy="431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– Retrieval Augmented Generation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0F958F-6638-6DC7-58C4-331650C800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7" r="3731"/>
          <a:stretch>
            <a:fillRect/>
          </a:stretch>
        </p:blipFill>
        <p:spPr>
          <a:xfrm>
            <a:off x="0" y="1256979"/>
            <a:ext cx="9144000" cy="28117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E53E50-B2B5-832A-178A-D75D0B1A6528}"/>
              </a:ext>
            </a:extLst>
          </p:cNvPr>
          <p:cNvSpPr txBox="1"/>
          <p:nvPr/>
        </p:nvSpPr>
        <p:spPr>
          <a:xfrm>
            <a:off x="3134785" y="4316461"/>
            <a:ext cx="3618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working flow of RAG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86EA4A-3279-7315-2A96-95D9F37D98C7}"/>
              </a:ext>
            </a:extLst>
          </p:cNvPr>
          <p:cNvSpPr/>
          <p:nvPr/>
        </p:nvSpPr>
        <p:spPr>
          <a:xfrm>
            <a:off x="0" y="1576873"/>
            <a:ext cx="9144000" cy="26032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4916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25584-E566-89A2-C1E6-340754407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69CF7-CCAB-6E65-03AE-0B642797F8C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 modal capability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effective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hallucination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Contextual Continuity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0451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3913" y="2971801"/>
            <a:ext cx="2699536" cy="711200"/>
          </a:xfrm>
        </p:spPr>
        <p:txBody>
          <a:bodyPr/>
          <a:lstStyle/>
          <a:p>
            <a:r>
              <a:rPr lang="en-US" dirty="0"/>
              <a:t>THANK  YOU</a:t>
            </a:r>
          </a:p>
        </p:txBody>
      </p:sp>
    </p:spTree>
    <p:extLst>
      <p:ext uri="{BB962C8B-B14F-4D97-AF65-F5344CB8AC3E}">
        <p14:creationId xmlns:p14="http://schemas.microsoft.com/office/powerpoint/2010/main" val="4167977639"/>
      </p:ext>
    </p:extLst>
  </p:cSld>
  <p:clrMapOvr>
    <a:masterClrMapping/>
  </p:clrMapOvr>
</p:sld>
</file>

<file path=ppt/theme/theme1.xml><?xml version="1.0" encoding="utf-8"?>
<a:theme xmlns:a="http://schemas.openxmlformats.org/drawingml/2006/main" name="IITR_PPT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ITR_template_sudiproy.pptx" id="{E7BE3218-A97E-4E6F-BE9F-92D6192B2CD5}" vid="{3EDE8FBA-E8F1-4B0B-AEA8-7DC234A91AE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DC7E518E850744AC6DB1A9098A0398" ma:contentTypeVersion="13" ma:contentTypeDescription="Create a new document." ma:contentTypeScope="" ma:versionID="dba13a767df06508d073177f1a7ad2b4">
  <xsd:schema xmlns:xsd="http://www.w3.org/2001/XMLSchema" xmlns:xs="http://www.w3.org/2001/XMLSchema" xmlns:p="http://schemas.microsoft.com/office/2006/metadata/properties" xmlns:ns2="3cf524b2-3ec1-4757-855b-af5d4b37ad76" xmlns:ns3="b233bfb8-ffc6-457d-9af1-35b85c94f64e" targetNamespace="http://schemas.microsoft.com/office/2006/metadata/properties" ma:root="true" ma:fieldsID="bc17318f249d3b4c8c3e55b6117b9273" ns2:_="" ns3:_="">
    <xsd:import namespace="3cf524b2-3ec1-4757-855b-af5d4b37ad76"/>
    <xsd:import namespace="b233bfb8-ffc6-457d-9af1-35b85c94f64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f524b2-3ec1-4757-855b-af5d4b37ad7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337c2620-d1ec-4608-ab47-b8d402b41a8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33bfb8-ffc6-457d-9af1-35b85c94f64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416f6f24-3be1-49c3-b7af-9d816e5c5628}" ma:internalName="TaxCatchAll" ma:showField="CatchAllData" ma:web="b233bfb8-ffc6-457d-9af1-35b85c94f64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233bfb8-ffc6-457d-9af1-35b85c94f64e" xsi:nil="true"/>
    <lcf76f155ced4ddcb4097134ff3c332f xmlns="3cf524b2-3ec1-4757-855b-af5d4b37ad76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0AD0F28-6B88-4B66-9A6B-53C5326191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cf524b2-3ec1-4757-855b-af5d4b37ad76"/>
    <ds:schemaRef ds:uri="b233bfb8-ffc6-457d-9af1-35b85c94f64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B5958A0-A658-40CB-8D20-D1571FA61459}">
  <ds:schemaRefs>
    <ds:schemaRef ds:uri="http://schemas.microsoft.com/office/2006/metadata/properties"/>
    <ds:schemaRef ds:uri="http://schemas.microsoft.com/office/infopath/2007/PartnerControls"/>
    <ds:schemaRef ds:uri="b233bfb8-ffc6-457d-9af1-35b85c94f64e"/>
    <ds:schemaRef ds:uri="3cf524b2-3ec1-4757-855b-af5d4b37ad76"/>
  </ds:schemaRefs>
</ds:datastoreItem>
</file>

<file path=customXml/itemProps3.xml><?xml version="1.0" encoding="utf-8"?>
<ds:datastoreItem xmlns:ds="http://schemas.openxmlformats.org/officeDocument/2006/customXml" ds:itemID="{2B0D1354-6B09-41CB-9999-C67D3517595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IITR_template_sudiproy</Template>
  <TotalTime>1738</TotalTime>
  <Words>114</Words>
  <Application>Microsoft Office PowerPoint</Application>
  <PresentationFormat>On-screen Show (4:3)</PresentationFormat>
  <Paragraphs>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Franklin Gothic Demi</vt:lpstr>
      <vt:lpstr>Times New Roman</vt:lpstr>
      <vt:lpstr>Wingdings</vt:lpstr>
      <vt:lpstr>IITR_PPT_Template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Features</vt:lpstr>
      <vt:lpstr>THANK  YOU</vt:lpstr>
    </vt:vector>
  </TitlesOfParts>
  <Manager>Dr. Sudip Roy</Manager>
  <Company>IIT Roorkee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IITR PPT Template</dc:subject>
  <dc:creator>Dr. Sudip Roy</dc:creator>
  <cp:lastModifiedBy>Kummari Sai Kumar</cp:lastModifiedBy>
  <cp:revision>122</cp:revision>
  <dcterms:created xsi:type="dcterms:W3CDTF">2015-07-18T13:17:54Z</dcterms:created>
  <dcterms:modified xsi:type="dcterms:W3CDTF">2025-08-31T18:19:47Z</dcterms:modified>
  <cp:version>v1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0x01010010DC7E518E850744AC6DB1A9098A0398</vt:lpwstr>
  </property>
</Properties>
</file>